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直接可用率</c:v>
                </c:pt>
              </c:strCache>
            </c:strRef>
          </c:tx>
          <c:spPr>
            <a:solidFill>
              <a:srgbClr val="002FA7">
                <a:alpha val="100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1" i="0" u="none" strike="noStrike" kern="1200" baseline="0">
                    <a:solidFill>
                      <a:srgbClr val="0A0A0A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裸 prompt</c:v>
                </c:pt>
                <c:pt idx="1">
                  <c:v>+ RAG 检索</c:v>
                </c:pt>
                <c:pt idx="2">
                  <c:v>+ 种子锚定</c:v>
                </c:pt>
                <c:pt idx="3">
                  <c:v>+ 技能 + 校验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52</c:v>
                </c:pt>
                <c:pt idx="2">
                  <c:v>68</c:v>
                </c:pt>
                <c:pt idx="3">
                  <c:v>91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0A0A0A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81bbc44-4f76-4fcb-a0a5-df405af90906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68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宋体-简" panose="020108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68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宋体-简" panose="02010800040101010101" charset="-122"/>
              </a:rPr>
            </a:fld>
            <a:endParaRPr lang="zh-CN" altLang="en-US">
              <a:latin typeface="宋体-简" panose="020108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1579681"/>
            <a:ext cx="2971800" cy="6116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宋体-简" panose="020108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1579681"/>
            <a:ext cx="2971800" cy="6116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宋体-简" panose="02010800040101010101" charset="-122"/>
              </a:rPr>
            </a:fld>
            <a:endParaRPr lang="zh-CN" altLang="en-US">
              <a:latin typeface="宋体-简" panose="020108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宋体-简" panose="02010800040101010101" charset="-122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宋体-简" panose="02010800040101010101" charset="-122"/>
              </a:defRPr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宋体-简" panose="02010800040101010101" charset="-122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宋体-简" panose="02010800040101010101" charset="-122"/>
              </a:defRPr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宋体-简" panose="02010800040101010101" charset="-122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宋体-简" panose="02010800040101010101" charset="-122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宋体-简" panose="02010800040101010101" charset="-122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宋体-简" panose="02010800040101010101" charset="-122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宋体-简" panose="02010800040101010101" charset="-122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FFF">
                    <a:alpha val="75000"/>
                  </a:srgbClr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录题 → 组卷流水线</a:t>
            </a:r>
            <a:endParaRPr lang="en-US" sz="1600" b="1" kern="0" spc="200" dirty="0">
              <a:solidFill>
                <a:srgbClr val="FFFFFF">
                  <a:alpha val="75000"/>
                </a:srgbClr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67167" y="29260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FFFFFF">
                    <a:alpha val="75000"/>
                  </a:srgbClr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AI EXAM · 01 /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884045"/>
            <a:ext cx="1005840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智能组卷</a:t>
            </a:r>
            <a:endParaRPr lang="en-US" sz="7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200" i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智能体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566928" y="5440680"/>
            <a:ext cx="11057839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5440680"/>
            <a:ext cx="11057839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5577840"/>
            <a:ext cx="8686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>
                    <a:alpha val="88000"/>
                  </a:srgb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从教材知识库到可发布试卷 —— 稳定生成 A1–A4 国考级题型的端到端命题引擎。</a:t>
            </a:r>
            <a:endParaRPr lang="en-US" sz="1600" dirty="0">
              <a:solidFill>
                <a:srgbClr val="FFFFFF">
                  <a:alpha val="88000"/>
                </a:srgbClr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定位</a:t>
            </a:r>
            <a:endParaRPr lang="en-US" sz="1600" b="1" kern="0" spc="200" dirty="0">
              <a:solidFill>
                <a:srgbClr val="737373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67167" y="29260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02 /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779270"/>
            <a:ext cx="1060704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34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 </a:t>
            </a:r>
            <a:r>
              <a:rPr lang="en-US" sz="3400" b="1" dirty="0">
                <a:solidFill>
                  <a:srgbClr val="002FA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教材知识库 + 种子题锚定 + 命题技能</a:t>
            </a:r>
            <a:r>
              <a:rPr lang="en-US" sz="34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三重约束，</a:t>
            </a:r>
            <a:endParaRPr lang="en-US" sz="3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34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把大模型不稳定的「凭空出题」，</a:t>
            </a:r>
            <a:endParaRPr lang="en-US" sz="3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34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收敛成 </a:t>
            </a:r>
            <a:r>
              <a:rPr lang="en-US" sz="3400" b="1" dirty="0">
                <a:solidFill>
                  <a:srgbClr val="002FA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可溯源、可发布</a:t>
            </a:r>
            <a:r>
              <a:rPr lang="en-US" sz="34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的标准化医学试卷。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痛点</a:t>
            </a:r>
            <a:endParaRPr lang="en-US" sz="1600" b="1" kern="0" spc="200" dirty="0">
              <a:solidFill>
                <a:srgbClr val="737373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67167" y="29260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03 /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47548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为什么</a:t>
            </a:r>
            <a:endParaRPr lang="en-US" sz="5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2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需要它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4206240"/>
            <a:ext cx="45720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高质量国考级 A1–A4 题稀缺，而通用大模型凭空出题，质量不稳、爱幻觉、难标准化。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0" y="1554480"/>
            <a:ext cx="55778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1719072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12280" y="169164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高质量题稀缺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12280" y="2084832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资深命题专家产能有限，人工出题慢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2724912"/>
            <a:ext cx="55778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889504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12280" y="2862072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质量不稳 · 爱幻觉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12280" y="3255264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伪 A2 泛滥：病例外壳套教材题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3895344"/>
            <a:ext cx="55778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4059936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12280" y="4032504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组卷难标准化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12280" y="4425696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题型 / 难度 / 知识点分布靠人工配比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5230368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2FA7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12280" y="5202936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题目无溯源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812280" y="5596128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老师不敢直接发给考生</a:t>
            </a:r>
            <a:endParaRPr lang="en-US" sz="1300" dirty="0"/>
          </a:p>
        </p:txBody>
      </p:sp>
      <p:sp>
        <p:nvSpPr>
          <p:cNvPr id="24" name="Shape 13"/>
          <p:cNvSpPr/>
          <p:nvPr/>
        </p:nvSpPr>
        <p:spPr>
          <a:xfrm>
            <a:off x="5989320" y="4997704"/>
            <a:ext cx="55778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整体流程</a:t>
            </a:r>
            <a:endParaRPr lang="en-US" sz="1600" b="1" kern="0" spc="200" dirty="0">
              <a:solidFill>
                <a:srgbClr val="737373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67167" y="29260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04 /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52855"/>
            <a:ext cx="822960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三段式端到端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66928" y="2606040"/>
            <a:ext cx="3503066" cy="342900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7" name="Text 5"/>
          <p:cNvSpPr/>
          <p:nvPr/>
        </p:nvSpPr>
        <p:spPr>
          <a:xfrm>
            <a:off x="841248" y="2880360"/>
            <a:ext cx="295442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STAGE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4160520"/>
            <a:ext cx="295442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创建知识库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41248" y="4663440"/>
            <a:ext cx="2954426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教材分块 → Doubao Seed </a:t>
            </a:r>
            <a:r>
              <a:rPr lang="zh-CN" altLang="en-US" sz="125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模型</a:t>
            </a:r>
            <a:r>
              <a:rPr lang="en-US" sz="125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向量化 → pgvector 入库 → 绑定 </a:t>
            </a:r>
            <a:r>
              <a:rPr lang="zh-CN" altLang="en-US" sz="125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考试系统</a:t>
            </a:r>
            <a:r>
              <a:rPr lang="en-US" sz="125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范围（专业/方向/主知识点）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4314" y="2606040"/>
            <a:ext cx="3503066" cy="3429000"/>
          </a:xfrm>
          <a:prstGeom prst="rect">
            <a:avLst/>
          </a:prstGeom>
          <a:solidFill>
            <a:srgbClr val="0A0A0A"/>
          </a:solidFill>
        </p:spPr>
      </p:sp>
      <p:sp>
        <p:nvSpPr>
          <p:cNvPr id="12" name="Text 10"/>
          <p:cNvSpPr/>
          <p:nvPr/>
        </p:nvSpPr>
        <p:spPr>
          <a:xfrm>
            <a:off x="4618634" y="2880360"/>
            <a:ext cx="295442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BFBFBF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STAGE 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8634" y="4160520"/>
            <a:ext cx="295442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创建种子题库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8355" y="4663440"/>
            <a:ext cx="3060065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解析教材目录 → 知识点树；RAG 检索教材 + 参考题，生成带溯源草稿</a:t>
            </a:r>
            <a:endParaRPr lang="en-US" sz="1400" dirty="0">
              <a:solidFill>
                <a:srgbClr val="FFFFFF">
                  <a:alpha val="90000"/>
                </a:srgbClr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18634" y="5577840"/>
            <a:ext cx="295442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FBFBF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命题锚点 · SEED BANK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21701" y="2606040"/>
            <a:ext cx="3503066" cy="342900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7" name="Text 15"/>
          <p:cNvSpPr/>
          <p:nvPr/>
        </p:nvSpPr>
        <p:spPr>
          <a:xfrm>
            <a:off x="8396021" y="2880360"/>
            <a:ext cx="295442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7D2F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STAGE 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96021" y="4160520"/>
            <a:ext cx="295442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构建医学试卷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95970" y="4663440"/>
            <a:ext cx="3060065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命题技能驱动 A1～A4 → </a:t>
            </a:r>
            <a:r>
              <a:rPr lang="zh-CN" altLang="en-US" sz="1400" dirty="0">
                <a:solidFill>
                  <a:srgbClr val="FFFFFF">
                    <a:alpha val="90000"/>
                  </a:srgb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模式</a:t>
            </a: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强校验 → 组卷 → 发布给考生</a:t>
            </a:r>
            <a:endParaRPr lang="en-US" sz="1400" dirty="0">
              <a:solidFill>
                <a:srgbClr val="FFFFFF">
                  <a:alpha val="90000"/>
                </a:srgbClr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96021" y="5577840"/>
            <a:ext cx="295442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7D2F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A1 · A2 · A3 · A4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数据流</a:t>
            </a:r>
            <a:endParaRPr lang="en-US" sz="1400" b="1" kern="0" spc="200" dirty="0">
              <a:solidFill>
                <a:srgbClr val="737373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67167" y="29260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05 /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545590"/>
            <a:ext cx="9144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一条对话内的数据流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32688" y="4206240"/>
            <a:ext cx="10326319" cy="0"/>
          </a:xfrm>
          <a:prstGeom prst="line">
            <a:avLst/>
          </a:prstGeom>
          <a:noFill/>
          <a:ln w="12700">
            <a:solidFill>
              <a:srgbClr val="7373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99560" y="4133088"/>
            <a:ext cx="146304" cy="146304"/>
          </a:xfrm>
          <a:prstGeom prst="ellipse">
            <a:avLst/>
          </a:prstGeom>
          <a:solidFill>
            <a:srgbClr val="0A0A0A"/>
          </a:solidFill>
        </p:spPr>
      </p:sp>
      <p:sp>
        <p:nvSpPr>
          <p:cNvPr id="9" name="Text 7"/>
          <p:cNvSpPr/>
          <p:nvPr/>
        </p:nvSpPr>
        <p:spPr>
          <a:xfrm>
            <a:off x="566928" y="3081528"/>
            <a:ext cx="22115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教材导入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3447288"/>
            <a:ext cx="22115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PDF/Excel/图片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11128" y="4133088"/>
            <a:ext cx="146304" cy="146304"/>
          </a:xfrm>
          <a:prstGeom prst="ellipse">
            <a:avLst/>
          </a:prstGeom>
          <a:solidFill>
            <a:srgbClr val="0A0A0A"/>
          </a:solidFill>
        </p:spPr>
      </p:sp>
      <p:sp>
        <p:nvSpPr>
          <p:cNvPr id="13" name="Text 11"/>
          <p:cNvSpPr/>
          <p:nvPr/>
        </p:nvSpPr>
        <p:spPr>
          <a:xfrm>
            <a:off x="2778496" y="4624578"/>
            <a:ext cx="22115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向量化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78496" y="4990338"/>
            <a:ext cx="22115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Doubao Seed</a:t>
            </a:r>
            <a:r>
              <a:rPr lang="zh-CN" altLang="en-US" sz="115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模型</a:t>
            </a:r>
            <a:r>
              <a:rPr lang="en-US" sz="115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+ pgvector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22696" y="4133088"/>
            <a:ext cx="146304" cy="146304"/>
          </a:xfrm>
          <a:prstGeom prst="ellipse">
            <a:avLst/>
          </a:prstGeom>
          <a:solidFill>
            <a:srgbClr val="0A0A0A"/>
          </a:solidFill>
        </p:spPr>
      </p:sp>
      <p:sp>
        <p:nvSpPr>
          <p:cNvPr id="17" name="Text 15"/>
          <p:cNvSpPr/>
          <p:nvPr/>
        </p:nvSpPr>
        <p:spPr>
          <a:xfrm>
            <a:off x="4990064" y="3081528"/>
            <a:ext cx="22115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种子题库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90064" y="3447288"/>
            <a:ext cx="22115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录题 / RAG 草拟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34263" y="4133088"/>
            <a:ext cx="146304" cy="146304"/>
          </a:xfrm>
          <a:prstGeom prst="ellipse">
            <a:avLst/>
          </a:prstGeom>
          <a:solidFill>
            <a:srgbClr val="0A0A0A"/>
          </a:solidFill>
        </p:spPr>
      </p:sp>
      <p:sp>
        <p:nvSpPr>
          <p:cNvPr id="21" name="Text 19"/>
          <p:cNvSpPr/>
          <p:nvPr/>
        </p:nvSpPr>
        <p:spPr>
          <a:xfrm>
            <a:off x="7201632" y="4624578"/>
            <a:ext cx="22115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命题生成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01632" y="4990338"/>
            <a:ext cx="22115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SKILL.md · A1–A4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45831" y="4133088"/>
            <a:ext cx="146304" cy="146304"/>
          </a:xfrm>
          <a:prstGeom prst="ellipse">
            <a:avLst/>
          </a:prstGeom>
          <a:solidFill>
            <a:srgbClr val="002FA7"/>
          </a:solidFill>
        </p:spPr>
      </p:sp>
      <p:sp>
        <p:nvSpPr>
          <p:cNvPr id="25" name="Text 23"/>
          <p:cNvSpPr/>
          <p:nvPr/>
        </p:nvSpPr>
        <p:spPr>
          <a:xfrm>
            <a:off x="9413199" y="3081528"/>
            <a:ext cx="22115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FA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组卷发布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13199" y="3447288"/>
            <a:ext cx="22115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写回</a:t>
            </a:r>
            <a:r>
              <a:rPr lang="zh-CN" altLang="en-US" sz="115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考试系统</a:t>
            </a:r>
            <a:r>
              <a:rPr lang="en-US" sz="115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→ 考生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创新点</a:t>
            </a:r>
            <a:endParaRPr lang="en-US" sz="1600" b="1" kern="0" spc="200" dirty="0">
              <a:solidFill>
                <a:srgbClr val="737373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67167" y="29260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06 /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385570"/>
            <a:ext cx="914400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六重约束，收敛输出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66928" y="2583180"/>
            <a:ext cx="3515258" cy="1700784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7" name="Text 5"/>
          <p:cNvSpPr/>
          <p:nvPr/>
        </p:nvSpPr>
        <p:spPr>
          <a:xfrm>
            <a:off x="3442106" y="278434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" y="2857500"/>
            <a:ext cx="287517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种子锚定 + 技能驱动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" y="3232404"/>
            <a:ext cx="296661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无种子 / 无命题技能不出题，把自由生成改成有参照的再生产</a:t>
            </a:r>
            <a:endParaRPr lang="en-US" sz="1400" dirty="0">
              <a:solidFill>
                <a:srgbClr val="737373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38218" y="2583180"/>
            <a:ext cx="3515258" cy="1700784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1" name="Text 9"/>
          <p:cNvSpPr/>
          <p:nvPr/>
        </p:nvSpPr>
        <p:spPr>
          <a:xfrm>
            <a:off x="7213397" y="278434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C7D2F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0826" y="2857500"/>
            <a:ext cx="287517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模式标签</a:t>
            </a: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三层强校验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0826" y="3232404"/>
            <a:ext cx="296661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>
                    <a:alpha val="92000"/>
                  </a:srgb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提取 → 预览标红 → 预检拒绝；A2 进 A2 出，绝不静默修正</a:t>
            </a:r>
            <a:endParaRPr lang="en-US" sz="1400" dirty="0">
              <a:solidFill>
                <a:srgbClr val="FFFFFF">
                  <a:alpha val="92000"/>
                </a:srgbClr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09509" y="2583180"/>
            <a:ext cx="3515258" cy="1700784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15" name="Text 13"/>
          <p:cNvSpPr/>
          <p:nvPr/>
        </p:nvSpPr>
        <p:spPr>
          <a:xfrm>
            <a:off x="10984687" y="278434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02117" y="2857500"/>
            <a:ext cx="287517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检索增强生成</a:t>
            </a:r>
            <a:r>
              <a:rPr lang="en-US" altLang="zh-CN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(RAG)</a:t>
            </a:r>
            <a:r>
              <a:rPr lang="en-US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溯源命题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02117" y="3232404"/>
            <a:ext cx="296661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每题挂教材原文 200–500 字快照，KB 重导后仍可回溯，防幻觉</a:t>
            </a:r>
            <a:endParaRPr lang="en-US" sz="1400" dirty="0">
              <a:solidFill>
                <a:srgbClr val="737373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6928" y="4539996"/>
            <a:ext cx="3515258" cy="1700784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19" name="Text 17"/>
          <p:cNvSpPr/>
          <p:nvPr/>
        </p:nvSpPr>
        <p:spPr>
          <a:xfrm>
            <a:off x="3442106" y="474116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" y="4814316"/>
            <a:ext cx="287517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伪 A2 识别质检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9536" y="5189220"/>
            <a:ext cx="296661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先建真实病例再抽考点，杜绝教材题套病例壳</a:t>
            </a:r>
            <a:endParaRPr lang="en-US" sz="1400" dirty="0">
              <a:solidFill>
                <a:srgbClr val="737373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38218" y="4539996"/>
            <a:ext cx="3515258" cy="1700784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23" name="Text 21"/>
          <p:cNvSpPr/>
          <p:nvPr/>
        </p:nvSpPr>
        <p:spPr>
          <a:xfrm>
            <a:off x="7213397" y="474116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30826" y="4814316"/>
            <a:ext cx="287517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先草稿</a:t>
            </a:r>
            <a:r>
              <a:rPr lang="en-US" altLang="zh-CN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/</a:t>
            </a:r>
            <a:r>
              <a:rPr lang="zh-CN" altLang="en-US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后确认</a:t>
            </a:r>
            <a:r>
              <a:rPr lang="en-US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两段式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30826" y="5189220"/>
            <a:ext cx="296661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生成不写库、老师确认才落库，全程可中断可修改</a:t>
            </a:r>
            <a:endParaRPr lang="en-US" sz="1400" dirty="0">
              <a:solidFill>
                <a:srgbClr val="737373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09509" y="4539996"/>
            <a:ext cx="3515258" cy="1700784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27" name="Text 25"/>
          <p:cNvSpPr/>
          <p:nvPr/>
        </p:nvSpPr>
        <p:spPr>
          <a:xfrm>
            <a:off x="10984687" y="474116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02117" y="4814316"/>
            <a:ext cx="287517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部分失败语义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02117" y="5189220"/>
            <a:ext cx="296661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道里 4 道合格能单独保留，失败逐条报因</a:t>
            </a:r>
            <a:endParaRPr lang="en-US" sz="1400" dirty="0">
              <a:solidFill>
                <a:srgbClr val="737373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好处</a:t>
            </a:r>
            <a:endParaRPr lang="en-US" sz="1600" b="1" kern="0" spc="200" dirty="0">
              <a:solidFill>
                <a:srgbClr val="737373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67167" y="29260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07 /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308100"/>
            <a:ext cx="822960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智能体</a:t>
            </a:r>
            <a:r>
              <a:rPr lang="en-US" sz="38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带来什么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66928" y="2743200"/>
            <a:ext cx="5391760" cy="0"/>
          </a:xfrm>
          <a:prstGeom prst="line">
            <a:avLst/>
          </a:prstGeom>
          <a:noFill/>
          <a:ln w="38100">
            <a:solidFill>
              <a:srgbClr val="002F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852928"/>
            <a:ext cx="539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SPEED · 快</a:t>
            </a:r>
            <a:endParaRPr lang="en-US" sz="1200" kern="0" spc="200" dirty="0">
              <a:solidFill>
                <a:srgbClr val="737373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6928" y="3154680"/>
            <a:ext cx="5391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分钟级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66928" y="3977640"/>
            <a:ext cx="539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选种子 → 审核 → 发布，单批 ≤5 道小步快跑</a:t>
            </a:r>
            <a:endParaRPr lang="en-US" sz="1400" dirty="0">
              <a:solidFill>
                <a:srgbClr val="737373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33008" y="2743200"/>
            <a:ext cx="539176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3008" y="2852928"/>
            <a:ext cx="539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STABLE · 稳</a:t>
            </a:r>
            <a:endParaRPr lang="en-US" sz="1200" kern="0" spc="200" dirty="0">
              <a:solidFill>
                <a:srgbClr val="737373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33008" y="3154680"/>
            <a:ext cx="5391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0.3</a:t>
            </a:r>
            <a:r>
              <a:rPr lang="en-US" sz="1600" b="1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 低温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33008" y="3977640"/>
            <a:ext cx="539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三重约束 + 低温度，输出稳定、风格一致</a:t>
            </a:r>
            <a:endParaRPr lang="en-US" sz="1400" dirty="0">
              <a:solidFill>
                <a:srgbClr val="737373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6928" y="4754880"/>
            <a:ext cx="539176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864608"/>
            <a:ext cx="539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TRUSTED · 可信</a:t>
            </a:r>
            <a:endParaRPr lang="en-US" sz="1200" kern="0" spc="200" dirty="0">
              <a:solidFill>
                <a:srgbClr val="737373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6928" y="5166360"/>
            <a:ext cx="5391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100%</a:t>
            </a:r>
            <a:r>
              <a:rPr lang="en-US" sz="1600" b="1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 溯源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566928" y="5989320"/>
            <a:ext cx="539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题题溯源 + 伪 A2 质检，敢直接发给考生</a:t>
            </a:r>
            <a:endParaRPr lang="en-US" sz="1400" dirty="0">
              <a:solidFill>
                <a:srgbClr val="737373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33008" y="4754880"/>
            <a:ext cx="539176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3008" y="4864608"/>
            <a:ext cx="539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STANDARD · 标准</a:t>
            </a:r>
            <a:endParaRPr lang="en-US" sz="1200" kern="0" spc="200" dirty="0">
              <a:solidFill>
                <a:srgbClr val="737373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33008" y="5166360"/>
            <a:ext cx="5391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A1–A4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233008" y="5989320"/>
            <a:ext cx="539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 / 40 / 20 / 20 国考配比一键约束，闭环发布</a:t>
            </a:r>
            <a:endParaRPr lang="en-US" sz="1400" dirty="0">
              <a:solidFill>
                <a:srgbClr val="737373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模型与技术栈</a:t>
            </a:r>
            <a:endParaRPr lang="en-US" sz="1600" b="1" kern="0" spc="200" dirty="0">
              <a:solidFill>
                <a:srgbClr val="737373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67167" y="29260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08 /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362075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使用</a:t>
            </a:r>
            <a:r>
              <a:rPr lang="zh-CN" altLang="en-US" sz="4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到的</a:t>
            </a:r>
            <a:r>
              <a:rPr lang="en-US" altLang="zh-CN" sz="4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</a:t>
            </a:r>
            <a:r>
              <a:rPr lang="en-US" sz="4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模型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66928" y="2743200"/>
            <a:ext cx="11057839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889504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kern="0" spc="15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向量化 · 检索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310128" y="285292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Doubao Embeddings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310128" y="3163824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OpenAI 兼容 /embeddings，固定维度 + ErrDimMismatch 守护 pgvector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511296"/>
            <a:ext cx="11057839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65760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kern="0" spc="15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向量库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10128" y="3621024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PostgreSQL · pgvector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310128" y="3931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余弦检索，top-k 召回教材片段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279392"/>
            <a:ext cx="11057839" cy="0"/>
          </a:xfrm>
          <a:prstGeom prst="line">
            <a:avLst/>
          </a:prstGeom>
          <a:noFill/>
          <a:ln w="12700">
            <a:solidFill>
              <a:srgbClr val="002F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425696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kern="0" spc="150" dirty="0">
                <a:solidFill>
                  <a:srgbClr val="002FA7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命题生成 LLM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10128" y="438912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DeepSeek v4 · Qwen3 (DashScope) · Doubao-seed-2.0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310128" y="4700016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平台多模型路由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047488"/>
            <a:ext cx="11057839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193792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kern="0" spc="15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目录 OCR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10128" y="5157216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视觉模型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310128" y="546811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教材目录图 → 结构化「课程→章→节」知识点树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5815584"/>
            <a:ext cx="11057839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5961888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kern="0" spc="15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命题知识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10128" y="5925312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SKILL.md 命题技能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3310128" y="62362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《妇产科国考命题专家》A1–A4 规范 + 伪 A2 识别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737373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消融对比</a:t>
            </a:r>
            <a:endParaRPr lang="en-US" sz="1600" b="1" kern="0" spc="200" dirty="0">
              <a:solidFill>
                <a:srgbClr val="737373"/>
              </a:solidFill>
              <a:latin typeface="Songti SC" panose="02010800040101010101" charset="-122"/>
              <a:ea typeface="Songti SC" panose="02010800040101010101" charset="-122"/>
              <a:cs typeface="宋体-简" panose="02010800040101010101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67167" y="29260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09 /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约束机制的增益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24688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指标 = 题目直接可用率（示意值，待 eval 跑分填实）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66928" y="2926080"/>
          <a:ext cx="11057839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※ 示意指标，非真实跑分；评测口径：伪 A2 率 / 区分度 / pattern 一致率 / 溯源命中率</a:t>
            </a:r>
            <a:endParaRPr lang="en-US" sz="1200" dirty="0">
              <a:solidFill>
                <a:srgbClr val="737373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横向对比</a:t>
            </a:r>
            <a:endParaRPr lang="en-US" sz="1600" b="1" kern="0" spc="200" dirty="0">
              <a:solidFill>
                <a:srgbClr val="737373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67167" y="29260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10 /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02690"/>
            <a:ext cx="100584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同 SKILL、同种子，跑同批 A2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66928" y="2439670"/>
            <a:ext cx="3503066" cy="31089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566928" y="2439670"/>
            <a:ext cx="3503066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695702"/>
            <a:ext cx="295442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DeepSeek v4-pro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3079750"/>
            <a:ext cx="295442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复杂推理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41248" y="3719830"/>
            <a:ext cx="295442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适用：复杂 A3 / A4 多阶段临床推理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4588510"/>
            <a:ext cx="2954426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临床真实感 — 待评测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区分度 — 待评测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4314" y="2439670"/>
            <a:ext cx="3503066" cy="31089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4344314" y="2439670"/>
            <a:ext cx="3503066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8634" y="2695702"/>
            <a:ext cx="295442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Qwen3-max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8634" y="3079750"/>
            <a:ext cx="295442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中文语料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18634" y="3719830"/>
            <a:ext cx="295442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适用：中文医学语料强、术语准确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18634" y="4588510"/>
            <a:ext cx="2954426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临床真实感 — 待评测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区分度 — 待评测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21701" y="2439670"/>
            <a:ext cx="3503066" cy="310896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9" name="Shape 17"/>
          <p:cNvSpPr/>
          <p:nvPr/>
        </p:nvSpPr>
        <p:spPr>
          <a:xfrm>
            <a:off x="8121701" y="2439670"/>
            <a:ext cx="3503066" cy="0"/>
          </a:xfrm>
          <a:prstGeom prst="line">
            <a:avLst/>
          </a:prstGeom>
          <a:noFill/>
          <a:ln w="38100">
            <a:solidFill>
              <a:srgbClr val="002F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6021" y="2695702"/>
            <a:ext cx="295442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7D2F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Doubao-seed-2.0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96021" y="3079750"/>
            <a:ext cx="295442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大批量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96021" y="3719830"/>
            <a:ext cx="295442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适用：大批量 A1 / A2，速度快、成本低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96021" y="4588510"/>
            <a:ext cx="2954426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速度 / 成本 — ★ 优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伪 A2 率 — 待评测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5822950"/>
            <a:ext cx="11057839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评测维度：伪 A2 率 · 区分度 · pattern 一致率 · 溯源命中率 · 单题时延 / 成本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成效与展望</a:t>
            </a:r>
            <a:endParaRPr lang="en-US" sz="1600" b="1" kern="0" spc="200" dirty="0">
              <a:solidFill>
                <a:srgbClr val="737373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67167" y="29260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11 / 12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02FA7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成效</a:t>
            </a:r>
            <a:endParaRPr lang="en-US" sz="1600" b="1" kern="0" spc="300" dirty="0">
              <a:solidFill>
                <a:srgbClr val="002FA7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45720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已经做到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2926080"/>
            <a:ext cx="5029200" cy="2377440"/>
          </a:xfrm>
          <a:prstGeom prst="rect">
            <a:avLst/>
          </a:prstGeom>
          <a:solidFill>
            <a:srgbClr val="0A0A0A"/>
          </a:solidFill>
        </p:spPr>
      </p:sp>
      <p:sp>
        <p:nvSpPr>
          <p:cNvPr id="7" name="Text 5"/>
          <p:cNvSpPr/>
          <p:nvPr/>
        </p:nvSpPr>
        <p:spPr>
          <a:xfrm>
            <a:off x="886968" y="3246120"/>
            <a:ext cx="4389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一份妇产科标准卷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3840480"/>
            <a:ext cx="43891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>
                    <a:alpha val="88000"/>
                  </a:srgb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从建库 → 种子 → 命题 → 组卷 → 发布，A1–A4 配比，对话内闭环完成。</a:t>
            </a:r>
            <a:endParaRPr lang="en-US" sz="1600" dirty="0">
              <a:solidFill>
                <a:srgbClr val="FFFFFF">
                  <a:alpha val="88000"/>
                </a:srgbClr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92240" y="1371600"/>
            <a:ext cx="5132527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737373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展望</a:t>
            </a:r>
            <a:endParaRPr lang="en-US" sz="1600" b="1" kern="0" spc="300" dirty="0">
              <a:solidFill>
                <a:srgbClr val="737373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92240" y="1828800"/>
            <a:ext cx="5132527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75104"/>
            <a:ext cx="5132527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当前局限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359152"/>
            <a:ext cx="5132527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组卷为顺序抽样，非智能编排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2907792"/>
            <a:ext cx="5132527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054096"/>
            <a:ext cx="5132527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智能分层抽样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3438144"/>
            <a:ext cx="5132527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按知识点 / 难度自动配平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3986784"/>
            <a:ext cx="5132527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133088"/>
            <a:ext cx="5132527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跨学科 </a:t>
            </a:r>
            <a:r>
              <a:rPr lang="zh-CN" altLang="en-US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模式</a:t>
            </a:r>
            <a:r>
              <a:rPr lang="en-US" sz="1600" b="1" dirty="0">
                <a:solidFill>
                  <a:srgbClr val="0A0A0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扩展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4517136"/>
            <a:ext cx="5132527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5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基于循证</a:t>
            </a:r>
            <a:r>
              <a:rPr lang="en-US" altLang="zh-CN" sz="125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/ </a:t>
            </a:r>
            <a:r>
              <a:rPr lang="zh-CN" altLang="en-US" sz="125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案例学习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5065776"/>
            <a:ext cx="5132527" cy="0"/>
          </a:xfrm>
          <a:prstGeom prst="line">
            <a:avLst/>
          </a:prstGeom>
          <a:noFill/>
          <a:ln w="12700">
            <a:solidFill>
              <a:srgbClr val="002F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5065776"/>
            <a:ext cx="5132527" cy="0"/>
          </a:xfrm>
          <a:prstGeom prst="line">
            <a:avLst/>
          </a:prstGeom>
          <a:noFill/>
          <a:ln w="25400">
            <a:solidFill>
              <a:srgbClr val="002F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5212080"/>
            <a:ext cx="5132527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FA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多模型择优 + 专家盲评回流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5596128"/>
            <a:ext cx="5132527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3737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回流强化命题技能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FFFFFF">
                    <a:alpha val="75000"/>
                  </a:srgbClr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12 /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2286000"/>
            <a:ext cx="566928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宋体" charset="0"/>
                <a:ea typeface="宋体" charset="0"/>
                <a:cs typeface="Arial" panose="020B0604020202090204" pitchFamily="34" charset="-120"/>
              </a:rPr>
              <a:t>建库一次，</a:t>
            </a:r>
            <a:endParaRPr lang="en-US" sz="5000" dirty="0">
              <a:latin typeface="宋体" charset="0"/>
              <a:ea typeface="宋体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宋体" charset="0"/>
                <a:ea typeface="宋体" charset="0"/>
                <a:cs typeface="Arial" panose="020B0604020202090204" pitchFamily="34" charset="-120"/>
              </a:rPr>
              <a:t>命题</a:t>
            </a:r>
            <a:r>
              <a:rPr lang="en-US" sz="5000" i="1" dirty="0">
                <a:solidFill>
                  <a:srgbClr val="FFFFFF"/>
                </a:solidFill>
                <a:latin typeface="宋体" charset="0"/>
                <a:ea typeface="宋体" charset="0"/>
                <a:cs typeface="Arial" panose="020B0604020202090204" pitchFamily="34" charset="-120"/>
              </a:rPr>
              <a:t>无限</a:t>
            </a:r>
            <a:r>
              <a:rPr lang="en-US" sz="5000" dirty="0">
                <a:solidFill>
                  <a:srgbClr val="FFFFFF"/>
                </a:solidFill>
                <a:latin typeface="宋体" charset="0"/>
                <a:ea typeface="宋体" charset="0"/>
                <a:cs typeface="Arial" panose="020B0604020202090204" pitchFamily="34" charset="-120"/>
              </a:rPr>
              <a:t>。</a:t>
            </a:r>
            <a:endParaRPr lang="en-US" sz="5000" dirty="0">
              <a:latin typeface="宋体" charset="0"/>
              <a:ea typeface="宋体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7055" y="4480560"/>
            <a:ext cx="56362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>
                    <a:alpha val="86000"/>
                  </a:srgb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知识库 → 种子 → 命题 → 组卷 → 发布，一个对话内闭环。</a:t>
            </a:r>
            <a:endParaRPr lang="en-US" sz="1600" dirty="0">
              <a:solidFill>
                <a:srgbClr val="FFFFFF">
                  <a:alpha val="86000"/>
                </a:srgbClr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66560" y="1828800"/>
            <a:ext cx="4858207" cy="0"/>
          </a:xfrm>
          <a:prstGeom prst="line">
            <a:avLst/>
          </a:prstGeom>
          <a:noFill/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2011680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>
                    <a:alpha val="82000"/>
                  </a:srgb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0" y="1993392"/>
            <a:ext cx="3852367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稳定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0" y="2395728"/>
            <a:ext cx="3852367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>
                    <a:alpha val="86000"/>
                  </a:srgb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种子锚定 + 技能驱动 + pattern 强校验，A1–A4 稳定可控。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66560" y="3200400"/>
            <a:ext cx="4858207" cy="0"/>
          </a:xfrm>
          <a:prstGeom prst="line">
            <a:avLst/>
          </a:prstGeom>
          <a:noFill/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3383280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>
                    <a:alpha val="82000"/>
                  </a:srgb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772400" y="3364992"/>
            <a:ext cx="3852367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可信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772400" y="3767328"/>
            <a:ext cx="3852367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>
                    <a:alpha val="86000"/>
                  </a:srgb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教材溯源 + 伪 A2 质检，组卷即发布给考生。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66560" y="4572000"/>
            <a:ext cx="4858207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4754880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772400" y="4736592"/>
            <a:ext cx="3852367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闭环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772400" y="5138928"/>
            <a:ext cx="3852367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>
                    <a:alpha val="86000"/>
                  </a:srgbClr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OIDC SSO 写回 exam，从教材到考生一气呵成。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-简"/>
        <a:ea typeface=""/>
        <a:cs typeface=""/>
        <a:font script="Jpan" typeface="游ゴシック"/>
        <a:font script="Hang" typeface="맑은 고딕"/>
        <a:font script="Hans" typeface="宋体-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-简"/>
        <a:ea typeface=""/>
        <a:cs typeface=""/>
        <a:font script="Jpan" typeface="游ゴシック"/>
        <a:font script="Hang" typeface="맑은 고딕"/>
        <a:font script="Hans" typeface="宋体-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-简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2007</Words>
  <Application>WPS 演示</Application>
  <PresentationFormat>On-screen Show (16:9)</PresentationFormat>
  <Paragraphs>312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4" baseType="lpstr">
      <vt:lpstr>Arial</vt:lpstr>
      <vt:lpstr>宋体</vt:lpstr>
      <vt:lpstr>Wingdings</vt:lpstr>
      <vt:lpstr>Consolas</vt:lpstr>
      <vt:lpstr>苹方-简</vt:lpstr>
      <vt:lpstr>Consolas</vt:lpstr>
      <vt:lpstr>Consolas</vt:lpstr>
      <vt:lpstr>Arial</vt:lpstr>
      <vt:lpstr>Arial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宋体-简</vt:lpstr>
      <vt:lpstr>Songti SC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智能组卷智能体</dc:title>
  <dc:creator>ArkLoop</dc:creator>
  <dc:subject>PptxGenJS Presentation</dc:subject>
  <cp:lastModifiedBy>江泽凡</cp:lastModifiedBy>
  <cp:revision>11</cp:revision>
  <dcterms:created xsi:type="dcterms:W3CDTF">2026-05-31T05:25:49Z</dcterms:created>
  <dcterms:modified xsi:type="dcterms:W3CDTF">2026-05-31T05:25:49Z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B62BA4D64AC3FCF185C01B6AEE9C31ED_42</vt:lpwstr>
  </property>
  <property fmtid="{D5CDD505-2E9C-101B-9397-08002B2CF9AE}" pid="3" name="KSOProductBuildVer">
    <vt:lpwstr>2052-12.1.25895.25895</vt:lpwstr>
  </property>
</Properties>
</file>